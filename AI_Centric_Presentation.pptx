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C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defRPr sz="6400" b="1">
                <a:solidFill>
                  <a:srgbClr val="FFFFFF"/>
                </a:solidFill>
              </a:defRPr>
            </a:pPr>
            <a:r>
              <a:t>AI 기반의 프로덕트 설계: 앱 제작 프로세스의 재설계</a:t>
            </a:r>
          </a:p>
          <a:p>
            <a:pPr algn="ctr">
              <a:defRPr sz="2800">
                <a:solidFill>
                  <a:srgbClr val="D3AF79"/>
                </a:solidFill>
              </a:defRPr>
            </a:pPr>
            <a:r>
              <a:t>도구를 넘어선 시스템 구축으로 압도적 속도와 품질 산출하기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14984" y="73152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000000"/>
                </a:solidFill>
              </a:defRPr>
            </a:pPr>
            <a:r>
              <a:t>미팅 목적: AI 중심 프로세스 재설계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4984" y="18288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2877BC"/>
                </a:solidFill>
              </a:defRPr>
            </a:pPr>
            <a:r>
              <a:t>AI를 '보조 도구'로 쓰는 수준을 넘어, 앱 제작의 전체 흐름을 AI 중심으로 재정의합니다.</a:t>
            </a:r>
          </a:p>
          <a:p>
            <a:pPr lvl="1">
              <a:defRPr sz="2400">
                <a:solidFill>
                  <a:srgbClr val="646464"/>
                </a:solidFill>
              </a:defRPr>
            </a:pPr>
            <a:r>
              <a:t>1. 극단적 속도: 사이클 단축 및 문서화 최소화</a:t>
            </a:r>
          </a:p>
          <a:p>
            <a:pPr lvl="1">
              <a:defRPr sz="2400">
                <a:solidFill>
                  <a:srgbClr val="646464"/>
                </a:solidFill>
              </a:defRPr>
            </a:pPr>
            <a:r>
              <a:t>2. 일관된 품질: 변동폭 없는 프로덕트급 결과물 유지</a:t>
            </a:r>
          </a:p>
          <a:p>
            <a:pPr lvl="1">
              <a:defRPr sz="2400">
                <a:solidFill>
                  <a:srgbClr val="646464"/>
                </a:solidFill>
              </a:defRPr>
            </a:pPr>
            <a:r>
              <a:t>3. 운영 최적화: 실제 배포 및 운영 가능한 수준의 산출물 연결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877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4984" y="36576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6400" b="1">
                <a:solidFill>
                  <a:srgbClr val="FFFFFF"/>
                </a:solidFill>
              </a:defRPr>
            </a:pPr>
            <a:r>
              <a:t>01. 기존 방식 vs AI 중심 방식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14984" y="73152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/>
            </a:pPr>
            <a:r>
              <a:t>기존 앱 제작 흐름 (전통적 방식)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4984" y="1828800"/>
            <a:ext cx="10058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646464"/>
                </a:solidFill>
              </a:defRPr>
            </a:pPr>
            <a:r>
              <a:t>아이디어 도출 ➔ 기획 ➔ BM 검증 ➔ BI 작업 ➔ 와이어프레임 ➔ 프론트엔드 개발</a:t>
            </a:r>
          </a:p>
          <a:p>
            <a:pPr>
              <a:defRPr sz="2400" b="1">
                <a:solidFill>
                  <a:srgbClr val="D3AF79"/>
                </a:solidFill>
              </a:defRPr>
            </a:pPr>
            <a:r>
              <a:t>[Insight] 중간 단계의 '문서화 및 회의'로 인한 긴 리드 타임 발생.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14984" y="73152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/>
            </a:pPr>
            <a:r>
              <a:t>AI 중심 방식: 프롬프트 압축형 설계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4984" y="18288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877BC"/>
                </a:solidFill>
              </a:defRPr>
            </a:pPr>
            <a:r>
              <a:t>아이디어 도출 ➔ 기획 내용을 자연어로 명령하여 즉시 프론트엔드로 구현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4984" y="3200400"/>
            <a:ext cx="9144000" cy="1371600"/>
          </a:xfrm>
          <a:prstGeom prst="round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>
                <a:solidFill>
                  <a:srgbClr val="1A1C1F"/>
                </a:solidFill>
              </a:defRPr>
            </a:pPr>
            <a:r>
              <a:t>중간 단계를 길게 끌지 않고, 프롬프트로 압축해 바로 산출물을 만든다.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5454A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4984" y="36576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6400" b="1">
                <a:solidFill>
                  <a:srgbClr val="FFFFFF"/>
                </a:solidFill>
              </a:defRPr>
            </a:pPr>
            <a:r>
              <a:t>02. 품질의 핵심: 구체화와 시스템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14984" y="73152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/>
            </a:pPr>
            <a:r>
              <a:t>프롬프트를 구체화시키는 핵심 도구 = 「디자인 시스템」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14984" y="1828800"/>
            <a:ext cx="10058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/>
            </a:pPr>
            <a:r>
              <a:t>- 단순한 UI(색/폰트) 개념이 아닙니다.</a:t>
            </a:r>
          </a:p>
          <a:p>
            <a:pPr>
              <a:defRPr sz="2800" b="1">
                <a:solidFill>
                  <a:srgbClr val="D3AF79"/>
                </a:solidFill>
              </a:defRPr>
            </a:pPr>
            <a:r>
              <a:t>- 앱이 실제로 동작하고 운영되는 수준까지 포함한 전체 시스템 설계.</a:t>
            </a:r>
          </a:p>
          <a:p>
            <a:br/>
            <a:pPr>
              <a:defRPr sz="2400">
                <a:solidFill>
                  <a:srgbClr val="2877BC"/>
                </a:solidFill>
              </a:defRPr>
            </a:pPr>
            <a:r>
              <a:t>[Flow 적용]</a:t>
            </a:r>
          </a:p>
          <a:p>
            <a:pPr>
              <a:defRPr sz="2400"/>
            </a:pPr>
            <a:r>
              <a:t>시스템 설계 ➔ 피그마메이크/안티그래비티/클로드코드 입력 ➔ 일관된 코드로 도출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14984" y="4572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/>
            </a:pPr>
            <a:r>
              <a:t>프로덕트를 아우르는 확장성 (8단계 범위)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14984" y="1645920"/>
            <a:ext cx="2377440" cy="1371600"/>
          </a:xfrm>
          <a:prstGeom prst="roundRect">
            <a:avLst/>
          </a:prstGeom>
          <a:solidFill>
            <a:srgbClr val="1A1C1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[1] 문제 정의 &amp; 사용자 구조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575304" y="1645920"/>
            <a:ext cx="2377440" cy="1371600"/>
          </a:xfrm>
          <a:prstGeom prst="roundRect">
            <a:avLst/>
          </a:prstGeom>
          <a:solidFill>
            <a:srgbClr val="1A1C1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[2] 인증·권한·상태 모델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35624" y="1645920"/>
            <a:ext cx="2377440" cy="1371600"/>
          </a:xfrm>
          <a:prstGeom prst="roundRect">
            <a:avLst/>
          </a:prstGeom>
          <a:solidFill>
            <a:srgbClr val="1A1C1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[3] 기능 상태 &amp; 데이터 표현 구조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95944" y="1645920"/>
            <a:ext cx="2377440" cy="1371600"/>
          </a:xfrm>
          <a:prstGeom prst="roundRect">
            <a:avLst/>
          </a:prstGeom>
          <a:solidFill>
            <a:srgbClr val="1A1C1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[4] 인터랙션 흐름 설계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14984" y="3291840"/>
            <a:ext cx="2377440" cy="1371600"/>
          </a:xfrm>
          <a:prstGeom prst="roundRect">
            <a:avLst/>
          </a:prstGeom>
          <a:solidFill>
            <a:srgbClr val="1A1C1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[5] UI 토큰 및 컴포넌트 적용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75304" y="3291840"/>
            <a:ext cx="2377440" cy="1371600"/>
          </a:xfrm>
          <a:prstGeom prst="roundRect">
            <a:avLst/>
          </a:prstGeom>
          <a:solidFill>
            <a:srgbClr val="1A1C1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[6] 결제·백오피스 도메인 확장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35624" y="3291840"/>
            <a:ext cx="2377440" cy="1371600"/>
          </a:xfrm>
          <a:prstGeom prst="roundRect">
            <a:avLst/>
          </a:prstGeom>
          <a:solidFill>
            <a:srgbClr val="1A1C1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[7] 기술 및 시스템 확장 설계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95944" y="3291840"/>
            <a:ext cx="2377440" cy="1371600"/>
          </a:xfrm>
          <a:prstGeom prst="roundRect">
            <a:avLst/>
          </a:prstGeom>
          <a:solidFill>
            <a:srgbClr val="1A1C1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[8] 운영·관측·성장 체계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14984" y="5303520"/>
            <a:ext cx="10149840" cy="914400"/>
          </a:xfrm>
          <a:prstGeom prst="roundRect">
            <a:avLst/>
          </a:prstGeom>
          <a:solidFill>
            <a:srgbClr val="D3AF7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1A1C1F"/>
                </a:solidFill>
              </a:defRPr>
            </a:pPr>
            <a:r>
              <a:t>결론: 예쁜 화면이 아니라, 운영 체계를 전부 포함하는 개념.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C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4984" y="1828800"/>
            <a:ext cx="10058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t>최종 목적지: 원본을 벗어난 '나만의 시스템'</a:t>
            </a:r>
          </a:p>
          <a:p>
            <a:br/>
            <a:pPr algn="ctr">
              <a:defRPr sz="2800">
                <a:solidFill>
                  <a:srgbClr val="D3AF79"/>
                </a:solidFill>
              </a:defRPr>
            </a:pPr>
            <a:r>
              <a:t>컬러, 폰트, 토큰, 컴포넌트 룰, 모델 규칙을 지속적으로 변형.</a:t>
            </a:r>
            <a:br/>
            <a:r>
              <a:t>원본 데이터와 멀어지는 과정을 거쳐 가장 강력한 독자적 시스템을 완성한다.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